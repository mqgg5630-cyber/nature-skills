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AUROC（示意）</c:v>
                </c:pt>
              </c:strCache>
            </c:strRef>
          </c:tx>
          <c:spPr>
            <a:solidFill>
              <a:srgbClr val="3A8274"/>
            </a:solidFill>
            <a:ln>
              <a:solidFill>
                <a:srgbClr val="3A8274"/>
              </a:solidFill>
            </a:ln>
          </c:spPr>
          <c:cat>
            <c:strRef>
              <c:f>Sheet1!$A$2:$A$6</c:f>
              <c:strCache>
                <c:ptCount val="5"/>
                <c:pt idx="0">
                  <c:v>逻辑回归</c:v>
                </c:pt>
                <c:pt idx="1">
                  <c:v>随机森林</c:v>
                </c:pt>
                <c:pt idx="2">
                  <c:v>XGBoost</c:v>
                </c:pt>
                <c:pt idx="3">
                  <c:v>ESM+MLP</c:v>
                </c:pt>
                <c:pt idx="4">
                  <c:v>集成模型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</c:v>
                </c:pt>
                <c:pt idx="1">
                  <c:v>0.78</c:v>
                </c:pt>
                <c:pt idx="2">
                  <c:v>0.81</c:v>
                </c:pt>
                <c:pt idx="3">
                  <c:v>0.84</c:v>
                </c:pt>
                <c:pt idx="4">
                  <c:v>0.86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EE8D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1234440"/>
            <a:ext cx="256032" cy="256032"/>
          </a:xfrm>
          <a:prstGeom prst="ellipse">
            <a:avLst/>
          </a:prstGeom>
          <a:solidFill>
            <a:srgbClr val="E5AD4D"/>
          </a:solidFill>
          <a:ln>
            <a:solidFill>
              <a:srgbClr val="E5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0"/>
            <a:ext cx="182880" cy="182880"/>
          </a:xfrm>
          <a:prstGeom prst="ellipse">
            <a:avLst/>
          </a:prstGeom>
          <a:solidFill>
            <a:srgbClr val="3A8274"/>
          </a:solidFill>
          <a:ln>
            <a:solidFill>
              <a:srgbClr val="3A8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926080"/>
            <a:ext cx="320040" cy="320040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108960"/>
            <a:ext cx="228600" cy="228600"/>
          </a:xfrm>
          <a:prstGeom prst="ellipse">
            <a:avLst/>
          </a:prstGeom>
          <a:solidFill>
            <a:srgbClr val="E5AD4D"/>
          </a:solidFill>
          <a:ln>
            <a:solidFill>
              <a:srgbClr val="E5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0" y="3931920"/>
            <a:ext cx="182880" cy="182880"/>
          </a:xfrm>
          <a:prstGeom prst="ellipse">
            <a:avLst/>
          </a:prstGeom>
          <a:solidFill>
            <a:srgbClr val="3A8274"/>
          </a:solidFill>
          <a:ln>
            <a:solidFill>
              <a:srgbClr val="3A8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572000"/>
            <a:ext cx="292608" cy="292608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281160" y="1481328"/>
            <a:ext cx="850392" cy="438912"/>
          </a:xfrm>
          <a:prstGeom prst="line">
            <a:avLst/>
          </a:prstGeom>
          <a:ln w="25400">
            <a:solidFill>
              <a:srgbClr val="E5A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528048" y="1965960"/>
            <a:ext cx="621792" cy="1097280"/>
          </a:xfrm>
          <a:prstGeom prst="line">
            <a:avLst/>
          </a:prstGeom>
          <a:ln w="25400">
            <a:solidFill>
              <a:srgbClr val="3A8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01200" y="3200400"/>
            <a:ext cx="1097280" cy="4572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732520" y="3246120"/>
            <a:ext cx="685800" cy="777240"/>
          </a:xfrm>
          <a:prstGeom prst="line">
            <a:avLst/>
          </a:prstGeom>
          <a:ln w="25400">
            <a:solidFill>
              <a:srgbClr val="E5A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8240" y="4114800"/>
            <a:ext cx="1508760" cy="548640"/>
          </a:xfrm>
          <a:prstGeom prst="line">
            <a:avLst/>
          </a:prstGeom>
          <a:ln w="25400">
            <a:solidFill>
              <a:srgbClr val="3A8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58368"/>
            <a:ext cx="3657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5AD4D"/>
                </a:solidFill>
                <a:latin typeface="Microsoft YaHei"/>
              </a:rPr>
              <a:t>NATURE SKILLS · METHODS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417320"/>
            <a:ext cx="81381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机器学习筛选鲜味肽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24912"/>
            <a:ext cx="6583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0" i="0">
                <a:solidFill>
                  <a:srgbClr val="D7E4D8"/>
                </a:solidFill>
                <a:latin typeface="Microsoft YaHei"/>
              </a:rPr>
              <a:t>从序列数据到可验证候选物的完整研究流程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66944"/>
            <a:ext cx="5486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ED2C5"/>
                </a:solidFill>
                <a:latin typeface="Microsoft YaHei"/>
              </a:rPr>
              <a:t>汇报人：________    日期：2026 / 09 /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080760"/>
            <a:ext cx="3657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A0BEAC"/>
                </a:solidFill>
                <a:latin typeface="Microsoft YaHei"/>
              </a:rPr>
              <a:t>研究方案｜方法学汇报｜可编辑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01 · 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鲜味肽筛选的瓶颈，不在于候选太少，而在于“可比、可解释、可验证”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676656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300" b="1" i="0">
                <a:solidFill>
                  <a:srgbClr val="143A2F"/>
                </a:solidFill>
                <a:latin typeface="Microsoft YaHei"/>
              </a:rPr>
              <a:t>目标：建立一个面向短肽序列的、可解释的优先级排序系统，将有限的实验资源投入最有希望的候选物。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246120" cy="205740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651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F5C46"/>
                </a:solidFill>
                <a:latin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02152"/>
            <a:ext cx="26517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肽序列 + 鲜味标签
实验条件与来源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788920"/>
            <a:ext cx="3246120" cy="205740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063240"/>
            <a:ext cx="2651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D57732"/>
                </a:solidFill>
                <a:latin typeface="Microsoft YaHei"/>
              </a:rPr>
              <a:t>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502152"/>
            <a:ext cx="26517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特征 → 模型 → 解释
校准不确定性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16" y="2788920"/>
            <a:ext cx="3246120" cy="205740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3063240"/>
            <a:ext cx="2651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AD483A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3502152"/>
            <a:ext cx="26517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候选优先级
体外验证清单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05072" y="3813048"/>
            <a:ext cx="292608" cy="0"/>
          </a:xfrm>
          <a:prstGeom prst="line">
            <a:avLst/>
          </a:prstGeom>
          <a:ln w="381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813048"/>
            <a:ext cx="292607" cy="0"/>
          </a:xfrm>
          <a:prstGeom prst="line">
            <a:avLst/>
          </a:prstGeom>
          <a:ln w="381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5532120"/>
            <a:ext cx="10607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5C46"/>
                </a:solidFill>
                <a:latin typeface="Microsoft YaHei"/>
              </a:rPr>
              <a:t>核心判断：模型负责缩小搜索空间，实验负责确认真实鲜味。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02 · 研究对象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鲜味肽是一个“序列—构象—受体—感知”多尺度问题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160520"/>
            <a:ext cx="10058400" cy="0"/>
          </a:xfrm>
          <a:prstGeom prst="line">
            <a:avLst/>
          </a:prstGeom>
          <a:ln w="25400">
            <a:solidFill>
              <a:srgbClr val="1F5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1560" y="3895344"/>
            <a:ext cx="530352" cy="53035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2C26"/>
                </a:solidFill>
                <a:latin typeface="Microsoft YaHei"/>
              </a:rPr>
              <a:t>序列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57695F"/>
                </a:solidFill>
                <a:latin typeface="Microsoft YaHei"/>
              </a:rPr>
              <a:t>氨基酸组成
长度 / 电荷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4572000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599432"/>
            <a:ext cx="94183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 i="0">
                <a:solidFill>
                  <a:srgbClr val="1F5C46"/>
                </a:solidFill>
                <a:latin typeface="Microsoft YaHei"/>
              </a:rPr>
              <a:t>输入层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3895344"/>
            <a:ext cx="530352" cy="53035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2C26"/>
                </a:solidFill>
                <a:latin typeface="Microsoft YaHei"/>
              </a:rPr>
              <a:t>理化性质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5292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57695F"/>
                </a:solidFill>
                <a:latin typeface="Microsoft YaHei"/>
              </a:rPr>
              <a:t>疏水性 / 极性
分子量 / 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4572000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4599432"/>
            <a:ext cx="94183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 i="0">
                <a:solidFill>
                  <a:srgbClr val="1F5C46"/>
                </a:solidFill>
                <a:latin typeface="Microsoft YaHei"/>
              </a:rPr>
              <a:t>表征层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3895344"/>
            <a:ext cx="530352" cy="53035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2C26"/>
                </a:solidFill>
                <a:latin typeface="Microsoft YaHei"/>
              </a:rPr>
              <a:t>受体互作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285292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57695F"/>
                </a:solidFill>
                <a:latin typeface="Microsoft YaHei"/>
              </a:rPr>
              <a:t>T1R1/T1R3
结合与构象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4572000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4599432"/>
            <a:ext cx="94183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 i="0">
                <a:solidFill>
                  <a:srgbClr val="1F5C46"/>
                </a:solidFill>
                <a:latin typeface="Microsoft YaHei"/>
              </a:rPr>
              <a:t>机制层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3895344"/>
            <a:ext cx="530352" cy="53035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2C26"/>
                </a:solidFill>
                <a:latin typeface="Microsoft YaHei"/>
              </a:rPr>
              <a:t>感官表型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5292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57695F"/>
                </a:solidFill>
                <a:latin typeface="Microsoft YaHei"/>
              </a:rPr>
              <a:t>鲜味强度
协同 / 阈值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4572000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6" y="4599432"/>
            <a:ext cx="94183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 i="0">
                <a:solidFill>
                  <a:srgbClr val="1F5C46"/>
                </a:solidFill>
                <a:latin typeface="Microsoft YaHei"/>
              </a:rPr>
              <a:t>输出层</a:t>
            </a:r>
          </a:p>
        </p:txBody>
      </p:sp>
      <p:sp>
        <p:nvSpPr>
          <p:cNvPr id="27" name="Oval 26"/>
          <p:cNvSpPr/>
          <p:nvPr/>
        </p:nvSpPr>
        <p:spPr>
          <a:xfrm>
            <a:off x="9738360" y="3895344"/>
            <a:ext cx="530352" cy="53035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2C26"/>
                </a:solidFill>
                <a:latin typeface="Microsoft YaHei"/>
              </a:rPr>
              <a:t>应用场景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85292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57695F"/>
                </a:solidFill>
                <a:latin typeface="Microsoft YaHei"/>
              </a:rPr>
              <a:t>食品基质
稳定性 / 安全性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4572000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4599432"/>
            <a:ext cx="94183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 i="0">
                <a:solidFill>
                  <a:srgbClr val="1F5C46"/>
                </a:solidFill>
                <a:latin typeface="Microsoft YaHei"/>
              </a:rPr>
              <a:t>转化层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1572768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43A2F"/>
                </a:solidFill>
                <a:latin typeface="Microsoft YaHei"/>
              </a:rPr>
              <a:t>本项目把“鲜味”定义为监督学习标签，但保留实验条件作为可追溯元数据。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研究对象：短肽序列｜标签、条件、来源必须同时进入数据字典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03 · 总体流程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从数据整理到体外验证，形成可回溯的闭环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65960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57400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数据盘点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来源、标签、条件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67712" y="2532888"/>
            <a:ext cx="320040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39" y="3922776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4014215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4334256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质量控制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4681728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去重、冲突、泄漏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23944" y="4489704"/>
            <a:ext cx="320039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62272" y="1965960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特征工程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24912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序列 + 理化 + 结构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176" y="2532888"/>
            <a:ext cx="320040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18504" y="3922776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5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334256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建模比较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681728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基线、集成、校准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6408" y="4489704"/>
            <a:ext cx="320040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74736" y="1965960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2057400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2377440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解释筛选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2724912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贡献、适用域、不确定性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92640" y="2532888"/>
            <a:ext cx="320040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30967" y="3922776"/>
            <a:ext cx="1481328" cy="1170432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0695" y="4014215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D57732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695" y="4334256"/>
            <a:ext cx="12435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B2C26"/>
                </a:solidFill>
                <a:latin typeface="Microsoft YaHei"/>
              </a:rPr>
              <a:t>实验验证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5" y="4681728"/>
            <a:ext cx="12618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57695F"/>
                </a:solidFill>
                <a:latin typeface="Microsoft YaHei"/>
              </a:rPr>
              <a:t>合成、感官、机制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240280" y="5120640"/>
            <a:ext cx="8001000" cy="0"/>
          </a:xfrm>
          <a:prstGeom prst="line">
            <a:avLst/>
          </a:prstGeom>
          <a:ln w="25400">
            <a:solidFill>
              <a:srgbClr val="3A8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952" y="5650992"/>
            <a:ext cx="105156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5C46"/>
                </a:solidFill>
                <a:latin typeface="Microsoft YaHei"/>
              </a:rPr>
              <a:t>闭环原则：验证结果回流数据集，更新标签置信度与下一轮主动学习。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04 · 数据工程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先建立“可审计”的数据集，再谈模型性能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600200"/>
          <a:ext cx="6537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103120"/>
                <a:gridCol w="1600200"/>
                <a:gridCol w="1600200"/>
              </a:tblGrid>
              <a:tr h="5715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>
                    <a:solidFill>
                      <a:srgbClr val="1F5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F5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处理规则</a:t>
                      </a:r>
                    </a:p>
                  </a:txBody>
                  <a:tcPr>
                    <a:solidFill>
                      <a:srgbClr val="1F5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保留证据</a:t>
                      </a:r>
                    </a:p>
                  </a:txBody>
                  <a:tcPr>
                    <a:solidFill>
                      <a:srgbClr val="1F5C4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序列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标准化一字母代码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去空格、统一大小写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原始序列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标签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鲜味 / 非鲜味 / 强度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保留原始量表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文献或实验来源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pH、温度、基质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缺失不静默填补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条件字典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论文、数据库、批次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按来源分组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DOI / accession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同序列异标签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标记冲突，不强行投票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C26"/>
                          </a:solidFill>
                          <a:latin typeface="Microsoft YaHei"/>
                        </a:rPr>
                        <a:t>冲突日志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27632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1828800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AD483A"/>
                </a:solidFill>
                <a:latin typeface="Microsoft YaHei"/>
              </a:rPr>
              <a:t>最大风险：数据泄漏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221992"/>
            <a:ext cx="2834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同源肽 / 同实验批次跨越 train-test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898648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099816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5C46"/>
                </a:solidFill>
                <a:latin typeface="Microsoft YaHei"/>
              </a:rPr>
              <a:t>拆分策略：按序列同源簇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493008"/>
            <a:ext cx="2834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外层测试集只在最后一次使用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169663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370832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D57732"/>
                </a:solidFill>
                <a:latin typeface="Microsoft YaHei"/>
              </a:rPr>
              <a:t>输出：数据卡片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764024"/>
            <a:ext cx="2834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版本、来源、标签定义、缺失机制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数据卡片与冲突日志是结果可信度的一部分，不是附属材料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05 · 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用三类互补表征，避免把鲜味压缩成单一“黑箱分数”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序列特征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286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k-mer / one-hot
预训练蛋白语言模型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3977639"/>
            <a:ext cx="2258568" cy="0"/>
          </a:xfrm>
          <a:prstGeom prst="line">
            <a:avLst/>
          </a:prstGeom>
          <a:ln w="25400">
            <a:solidFill>
              <a:srgbClr val="1F5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422452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57695F"/>
                </a:solidFill>
                <a:latin typeface="Microsoft YaHei"/>
              </a:rPr>
              <a:t>可表达局部模式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2140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理化特征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2286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长度、净电荷
疏水性、pI、分子量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3977639"/>
            <a:ext cx="2258568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0" y="422452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57695F"/>
                </a:solidFill>
                <a:latin typeface="Microsoft YaHei"/>
              </a:rPr>
              <a:t>便于解释与审计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2743200" cy="292608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12140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B2C26"/>
                </a:solidFill>
                <a:latin typeface="Microsoft YaHei"/>
              </a:rPr>
              <a:t>结构与互作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834640"/>
            <a:ext cx="2286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二级结构倾向
受体对接 / 接触图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3977639"/>
            <a:ext cx="2258568" cy="0"/>
          </a:xfrm>
          <a:prstGeom prst="line">
            <a:avLst/>
          </a:prstGeom>
          <a:ln w="25400">
            <a:solidFill>
              <a:srgbClr val="AD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43800" y="422452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57695F"/>
                </a:solidFill>
                <a:latin typeface="Microsoft YaHei"/>
              </a:rPr>
              <a:t>连接机制假设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5C46"/>
                </a:solidFill>
                <a:latin typeface="Microsoft YaHei"/>
              </a:rPr>
              <a:t>建模顺序：可解释基线 → 集成模型 → 融合高维表示；每一步都保留消融对照。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06 · 模型比较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性能、稳定性与校准，比单次最高分更重要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691640"/>
          <a:ext cx="5669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5285232"/>
            <a:ext cx="53035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1">
                <a:solidFill>
                  <a:srgbClr val="57695F"/>
                </a:solidFill>
                <a:latin typeface="Microsoft YaHei"/>
              </a:rPr>
              <a:t>图示为模型比较的展示方式，数值需由真实数据运行后替换。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55648"/>
            <a:ext cx="4160520" cy="320040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78624" y="2048256"/>
            <a:ext cx="34747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5C46"/>
                </a:solidFill>
                <a:latin typeface="Microsoft YaHei"/>
              </a:rPr>
              <a:t>推荐评估框架</a:t>
            </a:r>
          </a:p>
        </p:txBody>
      </p:sp>
      <p:sp>
        <p:nvSpPr>
          <p:cNvPr id="10" name="Oval 9"/>
          <p:cNvSpPr/>
          <p:nvPr/>
        </p:nvSpPr>
        <p:spPr>
          <a:xfrm>
            <a:off x="7278624" y="2688336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2615184"/>
            <a:ext cx="3383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外层：同源簇留出测试</a:t>
            </a:r>
          </a:p>
        </p:txBody>
      </p:sp>
      <p:sp>
        <p:nvSpPr>
          <p:cNvPr id="12" name="Oval 11"/>
          <p:cNvSpPr/>
          <p:nvPr/>
        </p:nvSpPr>
        <p:spPr>
          <a:xfrm>
            <a:off x="7278624" y="3108960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1504" y="3035808"/>
            <a:ext cx="3383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内层：嵌套交叉验证</a:t>
            </a:r>
          </a:p>
        </p:txBody>
      </p:sp>
      <p:sp>
        <p:nvSpPr>
          <p:cNvPr id="14" name="Oval 13"/>
          <p:cNvSpPr/>
          <p:nvPr/>
        </p:nvSpPr>
        <p:spPr>
          <a:xfrm>
            <a:off x="7278624" y="3529584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3456432"/>
            <a:ext cx="3383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指标：AUROC / AUPRC / F1</a:t>
            </a:r>
          </a:p>
        </p:txBody>
      </p:sp>
      <p:sp>
        <p:nvSpPr>
          <p:cNvPr id="16" name="Oval 15"/>
          <p:cNvSpPr/>
          <p:nvPr/>
        </p:nvSpPr>
        <p:spPr>
          <a:xfrm>
            <a:off x="7278624" y="3950208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3877056"/>
            <a:ext cx="3383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校准：Brier + reliability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7278624" y="4370832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4297680"/>
            <a:ext cx="33832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报告：均值 ± 置信区间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870448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A2F"/>
                </a:solidFill>
                <a:latin typeface="Microsoft YaHei"/>
              </a:rPr>
              <a:t>判定规则：若复杂模型仅带来边际收益，优先选择更易解释、部署成本更低的模型。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07 · 验证设计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把“泛化能力”拆成三个可回答的问题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3154680" cy="237744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2606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 i="0">
                <a:solidFill>
                  <a:srgbClr val="1F5C46"/>
                </a:solidFill>
                <a:latin typeface="Microsoft YaHei"/>
              </a:rPr>
              <a:t>能否识别？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26060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区分鲜味与非鲜味
AUROC / AUPRC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85615"/>
            <a:ext cx="2606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57695F"/>
                </a:solidFill>
                <a:latin typeface="Microsoft YaHei"/>
              </a:rPr>
              <a:t>分类层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847088"/>
            <a:ext cx="3154680" cy="237744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176272"/>
            <a:ext cx="2606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 i="0">
                <a:solidFill>
                  <a:srgbClr val="D57732"/>
                </a:solidFill>
                <a:latin typeface="Microsoft YaHei"/>
              </a:rPr>
              <a:t>能否排序？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907792"/>
            <a:ext cx="26060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高分候选是否更富集
Precision@K / 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785615"/>
            <a:ext cx="2606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57695F"/>
                </a:solidFill>
                <a:latin typeface="Microsoft YaHei"/>
              </a:rPr>
              <a:t>排序层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847088"/>
            <a:ext cx="3154680" cy="237744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2176272"/>
            <a:ext cx="2606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 i="0">
                <a:solidFill>
                  <a:srgbClr val="AD483A"/>
                </a:solidFill>
                <a:latin typeface="Microsoft YaHei"/>
              </a:rPr>
              <a:t>能否相信？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2907792"/>
            <a:ext cx="26060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1B2C26"/>
                </a:solidFill>
                <a:latin typeface="Microsoft YaHei"/>
              </a:rPr>
              <a:t>分数是否可校准
置信区间 / 适用域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3785615"/>
            <a:ext cx="2606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57695F"/>
                </a:solidFill>
                <a:latin typeface="Microsoft YaHei"/>
              </a:rPr>
              <a:t>决策层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4892040"/>
            <a:ext cx="4114801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5184648"/>
            <a:ext cx="10241280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43A2F"/>
                </a:solidFill>
                <a:latin typeface="Microsoft YaHei"/>
              </a:rPr>
              <a:t>关键控制：按同源簇拆分，避免“记住相似序列”造成虚高性能。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08 · 可解释性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解释直接决定候选物是否值得进入实验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57695F"/>
                </a:solidFill>
                <a:latin typeface="Microsoft YaHei"/>
              </a:rPr>
              <a:t>示意：序列贡献图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615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F5D3B1"/>
          </a:solidFill>
          <a:ln>
            <a:solidFill>
              <a:srgbClr val="F5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911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9B89D"/>
          </a:solidFill>
          <a:ln>
            <a:solidFill>
              <a:srgbClr val="E9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911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D6E8DC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503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2176272"/>
            <a:ext cx="347472" cy="475488"/>
          </a:xfrm>
          <a:prstGeom prst="roundRect">
            <a:avLst>
              <a:gd name="adj" fmla="val 8000"/>
            </a:avLst>
          </a:prstGeom>
          <a:solidFill>
            <a:srgbClr val="DDEDE4"/>
          </a:solidFill>
          <a:ln>
            <a:solidFill>
              <a:srgbClr val="DD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304288"/>
            <a:ext cx="3474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1B2C26"/>
                </a:solidFill>
                <a:latin typeface="Microsoft YaHei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2999232"/>
            <a:ext cx="40233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B2C26"/>
                </a:solidFill>
                <a:latin typeface="Microsoft YaHei"/>
              </a:rPr>
              <a:t>贡献方向与大小应与理化特征、同源序列和实验现象交叉核对。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1737360"/>
            <a:ext cx="5577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8" y="2029968"/>
            <a:ext cx="47548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F5C46"/>
                </a:solidFill>
                <a:latin typeface="Microsoft YaHei"/>
              </a:rPr>
              <a:t>候选入选的四个门槛</a:t>
            </a:r>
          </a:p>
        </p:txBody>
      </p:sp>
      <p:sp>
        <p:nvSpPr>
          <p:cNvPr id="30" name="Oval 29"/>
          <p:cNvSpPr/>
          <p:nvPr/>
        </p:nvSpPr>
        <p:spPr>
          <a:xfrm>
            <a:off x="5779008" y="2688336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2615184"/>
            <a:ext cx="4480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1B2C26"/>
                </a:solidFill>
                <a:latin typeface="Microsoft YaHei"/>
              </a:rPr>
              <a:t>预测分数高：模型排序靠前</a:t>
            </a:r>
          </a:p>
        </p:txBody>
      </p:sp>
      <p:sp>
        <p:nvSpPr>
          <p:cNvPr id="32" name="Oval 31"/>
          <p:cNvSpPr/>
          <p:nvPr/>
        </p:nvSpPr>
        <p:spPr>
          <a:xfrm>
            <a:off x="5779008" y="3182112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3108960"/>
            <a:ext cx="4480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1B2C26"/>
                </a:solidFill>
                <a:latin typeface="Microsoft YaHei"/>
              </a:rPr>
              <a:t>不确定性低：落在适用域内</a:t>
            </a:r>
          </a:p>
        </p:txBody>
      </p:sp>
      <p:sp>
        <p:nvSpPr>
          <p:cNvPr id="34" name="Oval 33"/>
          <p:cNvSpPr/>
          <p:nvPr/>
        </p:nvSpPr>
        <p:spPr>
          <a:xfrm>
            <a:off x="5779008" y="3675887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3602736"/>
            <a:ext cx="4480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1B2C26"/>
                </a:solidFill>
                <a:latin typeface="Microsoft YaHei"/>
              </a:rPr>
              <a:t>解释一致：特征贡献可复核</a:t>
            </a:r>
          </a:p>
        </p:txBody>
      </p:sp>
      <p:sp>
        <p:nvSpPr>
          <p:cNvPr id="36" name="Oval 35"/>
          <p:cNvSpPr/>
          <p:nvPr/>
        </p:nvSpPr>
        <p:spPr>
          <a:xfrm>
            <a:off x="5779008" y="4169664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4096512"/>
            <a:ext cx="4480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1B2C26"/>
                </a:solidFill>
                <a:latin typeface="Microsoft YaHei"/>
              </a:rPr>
              <a:t>实验可行：合成、稳定、安全性可控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422392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D57732"/>
                </a:solidFill>
                <a:latin typeface="Microsoft YaHei"/>
              </a:rPr>
              <a:t>输出应同时包含：分数、置信度、解释与证据链。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09 · 虚拟筛选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用“高分 × 低不确定性 × 可实验性”形成候选优先级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56692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65376"/>
            <a:ext cx="4114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57695F"/>
                </a:solidFill>
                <a:latin typeface="Microsoft YaHei"/>
              </a:rPr>
              <a:t>候选排序示意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4800600"/>
            <a:ext cx="4754880" cy="0"/>
          </a:xfrm>
          <a:prstGeom prst="line">
            <a:avLst/>
          </a:prstGeom>
          <a:ln w="12700">
            <a:solidFill>
              <a:srgbClr val="576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25880" y="2331720"/>
            <a:ext cx="0" cy="2468880"/>
          </a:xfrm>
          <a:prstGeom prst="line">
            <a:avLst/>
          </a:prstGeom>
          <a:ln w="12700">
            <a:solidFill>
              <a:srgbClr val="576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74920" y="4919472"/>
            <a:ext cx="1143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57695F"/>
                </a:solidFill>
                <a:latin typeface="Microsoft YaHei"/>
              </a:rPr>
              <a:t>预测分数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320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57695F"/>
                </a:solidFill>
                <a:latin typeface="Microsoft YaHei"/>
              </a:rPr>
              <a:t>不确定性
↓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4297680"/>
            <a:ext cx="164592" cy="164592"/>
          </a:xfrm>
          <a:prstGeom prst="ellipse">
            <a:avLst/>
          </a:prstGeom>
          <a:solidFill>
            <a:srgbClr val="3A8274"/>
          </a:solidFill>
          <a:ln>
            <a:solidFill>
              <a:srgbClr val="3A8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320" y="3749039"/>
            <a:ext cx="164592" cy="164592"/>
          </a:xfrm>
          <a:prstGeom prst="ellipse">
            <a:avLst/>
          </a:prstGeom>
          <a:solidFill>
            <a:srgbClr val="E5AD4D"/>
          </a:solidFill>
          <a:ln>
            <a:solidFill>
              <a:srgbClr val="E5A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17520" y="3474720"/>
            <a:ext cx="164592" cy="164592"/>
          </a:xfrm>
          <a:prstGeom prst="ellipse">
            <a:avLst/>
          </a:prstGeom>
          <a:solidFill>
            <a:srgbClr val="3A8274"/>
          </a:solidFill>
          <a:ln>
            <a:solidFill>
              <a:srgbClr val="3A8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39" y="4023360"/>
            <a:ext cx="164592" cy="164592"/>
          </a:xfrm>
          <a:prstGeom prst="ellipse">
            <a:avLst/>
          </a:prstGeom>
          <a:solidFill>
            <a:srgbClr val="AD483A"/>
          </a:solidFill>
          <a:ln>
            <a:solidFill>
              <a:srgbClr val="AD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2926080"/>
            <a:ext cx="164592" cy="16459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267004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1F5C46"/>
                </a:solidFill>
                <a:latin typeface="Microsoft YaHei"/>
              </a:rPr>
              <a:t>C5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3200400"/>
            <a:ext cx="164592" cy="16459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294436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1F5C46"/>
                </a:solidFill>
                <a:latin typeface="Microsoft YaHei"/>
              </a:rPr>
              <a:t>C6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2651760"/>
            <a:ext cx="164592" cy="164592"/>
          </a:xfrm>
          <a:prstGeom prst="ellipse">
            <a:avLst/>
          </a:prstGeom>
          <a:solidFill>
            <a:srgbClr val="1F5C46"/>
          </a:solidFill>
          <a:ln>
            <a:solidFill>
              <a:srgbClr val="1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3957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1F5C46"/>
                </a:solidFill>
                <a:latin typeface="Microsoft YaHei"/>
              </a:rPr>
              <a:t>C7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2468880"/>
            <a:ext cx="164592" cy="164592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67728" y="1737360"/>
            <a:ext cx="4160520" cy="338328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2029968"/>
            <a:ext cx="3474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F5C46"/>
                </a:solidFill>
                <a:latin typeface="Microsoft YaHei"/>
              </a:rPr>
              <a:t>建议的候选分层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2670048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F5C46"/>
                </a:solidFill>
                <a:latin typeface="Microsoft YaHei"/>
              </a:rPr>
              <a:t>A类：优先验证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2926080"/>
            <a:ext cx="3246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高分、低不确定性、可合成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3383280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D57732"/>
                </a:solidFill>
                <a:latin typeface="Microsoft YaHei"/>
              </a:rPr>
              <a:t>B类：机制探索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3639312"/>
            <a:ext cx="3246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高分但解释或适用域存疑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409651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57695F"/>
                </a:solidFill>
                <a:latin typeface="Microsoft YaHei"/>
              </a:rPr>
              <a:t>C类：暂缓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4352544"/>
            <a:ext cx="3246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1B2C26"/>
                </a:solidFill>
                <a:latin typeface="Microsoft YaHei"/>
              </a:rPr>
              <a:t>低分或实验不可行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742432"/>
            <a:ext cx="106070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43A2F"/>
                </a:solidFill>
                <a:latin typeface="Microsoft YaHei"/>
              </a:rPr>
              <a:t>主动学习下一轮：优先补测“模型最不确定、但潜在价值高”的样本。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10 · 体外验证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实验验证要同时回答：有没有鲜味、强不强、为什么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6596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267712"/>
            <a:ext cx="1920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F5C46"/>
                </a:solidFill>
                <a:latin typeface="Microsoft YaHei"/>
              </a:rPr>
              <a:t>合成与质控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944368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纯度、分子量
溶解性、稳定性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017520"/>
            <a:ext cx="384048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96596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EEE8D8"/>
          </a:solidFill>
          <a:ln>
            <a:solidFill>
              <a:srgbClr val="EE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267712"/>
            <a:ext cx="1920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D57732"/>
                </a:solidFill>
                <a:latin typeface="Microsoft YaHei"/>
              </a:rPr>
              <a:t>感官 / 细胞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944368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三点检验或强度评分
受体细胞报告体系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3017520"/>
            <a:ext cx="384048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82512" y="196596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EBE2DA"/>
          </a:solidFill>
          <a:ln>
            <a:solidFill>
              <a:srgbClr val="E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67712"/>
            <a:ext cx="1920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AD483A"/>
                </a:solidFill>
                <a:latin typeface="Microsoft YaHei"/>
              </a:rPr>
              <a:t>机制补充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44368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受体结合 / 对接
关键残基突变验证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1664" y="3017520"/>
            <a:ext cx="384048" cy="0"/>
          </a:xfrm>
          <a:prstGeom prst="line">
            <a:avLst/>
          </a:prstGeom>
          <a:ln w="25400">
            <a:solidFill>
              <a:srgbClr val="D57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98864" y="196596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E5EEE5"/>
          </a:solidFill>
          <a:ln>
            <a:solidFill>
              <a:srgbClr val="E5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267712"/>
            <a:ext cx="1920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F5C46"/>
                </a:solidFill>
                <a:latin typeface="Microsoft YaHei"/>
              </a:rPr>
              <a:t>迭代更新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944368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回填真实标签
更新模型与优先级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43A2F"/>
                </a:solidFill>
                <a:latin typeface="Microsoft YaHei"/>
              </a:rPr>
              <a:t>最小验证集建议：覆盖高分、边界、低分对照与模型高不确定性样本。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22392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AD483A"/>
                </a:solidFill>
                <a:latin typeface="Microsoft YaHei"/>
              </a:rPr>
              <a:t>避免只验证“模型最喜欢的样本”——否则无法区分学习有效与筛选偏差。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11 · 风险与边界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模型可以缩小搜索空间，但不能替代鲜味的真实测量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424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886200"/>
                <a:gridCol w="4206240"/>
              </a:tblGrid>
              <a:tr h="67665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>
                    <a:solidFill>
                      <a:srgbClr val="143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可能后果</a:t>
                      </a:r>
                    </a:p>
                  </a:txBody>
                  <a:tcPr>
                    <a:solidFill>
                      <a:srgbClr val="143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应对</a:t>
                      </a:r>
                    </a:p>
                  </a:txBody>
                  <a:tcPr>
                    <a:solidFill>
                      <a:srgbClr val="143A2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标签异质性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不同感官量表不可直接合并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分层建模 / 条件编码 / 置信标签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同源泄漏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测试性能虚高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同源簇拆分 + 外部留出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分布外序列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高分但不可泛化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适用域 + 不确定性筛选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基质与协同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纯肽有效，食品中失效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C26"/>
                          </a:solidFill>
                          <a:latin typeface="Microsoft YaHei"/>
                        </a:rPr>
                        <a:t>加入基质与组合验证</a:t>
                      </a:r>
                    </a:p>
                  </a:txBody>
                  <a:tcPr>
                    <a:solidFill>
                      <a:srgbClr val="E5EEE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AD483A"/>
                </a:solidFill>
                <a:latin typeface="Microsoft YaHei"/>
              </a:rPr>
              <a:t>边界声明：本 PPT 是可执行的研究方案；其中模型性能、候选名单与实验结论必须由真实数据产生。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机器学习筛选鲜味肽｜研究方案汇报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743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5AD4D"/>
                </a:solidFill>
                <a:latin typeface="Microsoft YaHei"/>
              </a:rPr>
              <a:t>12 · TAKE-HOME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14984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Microsoft YaHei"/>
              </a:rPr>
              <a:t>把鲜味肽筛选做成
一个可解释的主动学习闭环。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2788920"/>
            <a:ext cx="10222992" cy="0"/>
          </a:xfrm>
          <a:prstGeom prst="line">
            <a:avLst/>
          </a:prstGeom>
          <a:ln w="12700">
            <a:solidFill>
              <a:srgbClr val="53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331012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E5AD4D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291840"/>
            <a:ext cx="90525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先管好数据：标签、条件、来源可追溯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E5AD4D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005072"/>
            <a:ext cx="90525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再比较模型：性能、校准、适用域一起看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3659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E5AD4D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718304"/>
            <a:ext cx="90525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最后做实验：验证结果回流，持续更新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35040"/>
            <a:ext cx="7498079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ED7C4"/>
                </a:solidFill>
                <a:latin typeface="Microsoft YaHei"/>
              </a:rPr>
              <a:t>下一步：锁定数据字典 → 建立基线 → 运行第一轮同源簇验证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5603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D57732"/>
                </a:solidFill>
                <a:latin typeface="Microsoft YaHei"/>
              </a:rPr>
              <a:t>附录 · 复现与参考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1B2C26"/>
                </a:solidFill>
                <a:latin typeface="Microsoft YaHei"/>
              </a:rPr>
              <a:t>建议把每一轮结果固定为版本化研究记录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0232" cy="0"/>
          </a:xfrm>
          <a:prstGeom prst="line">
            <a:avLst/>
          </a:prstGeom>
          <a:ln w="12700">
            <a:solidFill>
              <a:srgbClr val="EEE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09960" y="310896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 i="0">
                <a:solidFill>
                  <a:srgbClr val="57695F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5212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F5C46"/>
                </a:solidFill>
                <a:latin typeface="Microsoft YaHei"/>
              </a:rPr>
              <a:t>复现清单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130552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057400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数据版本与哈希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606040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32888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特征配置与随机种子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081528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08376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拆分索引与外层测试集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3557016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83864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模型权重、指标与置信区间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4032504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959352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候选清单及实验回填结果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D57732"/>
                </a:solidFill>
                <a:latin typeface="Microsoft YaHei"/>
              </a:rPr>
              <a:t>参考方向（建库时核验）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30552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鲜味受体 T1R1/T1R3 与肽类感知研究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06040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32888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机器学习蛋白 / 肽序列表示方法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081528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008376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抗菌肽与生物活性肽预测基准实践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557016"/>
            <a:ext cx="100584" cy="100584"/>
          </a:xfrm>
          <a:prstGeom prst="ellipse">
            <a:avLst/>
          </a:prstGeom>
          <a:solidFill>
            <a:srgbClr val="D57732"/>
          </a:solidFill>
          <a:ln>
            <a:solidFill>
              <a:srgbClr val="D57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83864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1B2C26"/>
                </a:solidFill>
                <a:latin typeface="Microsoft YaHei"/>
              </a:rPr>
              <a:t>感官评价与食品基质效应方法学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257800"/>
            <a:ext cx="102412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AD483A"/>
                </a:solidFill>
                <a:latin typeface="Microsoft YaHei"/>
              </a:rPr>
              <a:t>说明：本方案未虚构数据集规模、模型性能或候选序列；运行真实数据后，应将示意图替换为可追溯结果。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56248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57695F"/>
                </a:solidFill>
                <a:latin typeface="Microsoft YaHei"/>
              </a:rPr>
              <a:t>汇报完毕｜问题与讨论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556248"/>
            <a:ext cx="914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 i="0">
                <a:solidFill>
                  <a:srgbClr val="57695F"/>
                </a:solidFill>
                <a:latin typeface="Microsoft YaHei"/>
              </a:rPr>
              <a:t>可编辑方案稿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机器学习筛选鲜味肽：从序列到验证的完整流程</dc:title>
  <dc:subject>Research proposal / methods report</dc:subject>
  <dc:creator>Nature Skills</dc:creator>
  <cp:keywords>鲜味肽, 机器学习, 主动学习, 食品科学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